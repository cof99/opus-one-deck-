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jRakom0+nhYN7YZnqeyI2heuA+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9F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8"/>
          <p:cNvSpPr/>
          <p:nvPr/>
        </p:nvSpPr>
        <p:spPr>
          <a:xfrm>
            <a:off x="411480" y="656539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ONE OPERATION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11567160" y="654710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11567160" y="654710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426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658368" y="658368"/>
            <a:ext cx="1463040" cy="310896"/>
          </a:xfrm>
          <a:prstGeom prst="roundRect">
            <a:avLst>
              <a:gd fmla="val 23529" name="adj"/>
            </a:avLst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804672" y="722376"/>
            <a:ext cx="1170432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233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6233D"/>
                </a:solidFill>
                <a:latin typeface="Arial"/>
                <a:ea typeface="Arial"/>
                <a:cs typeface="Arial"/>
                <a:sym typeface="Arial"/>
              </a:rPr>
              <a:t>Digital Rain / Strategy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13232" y="1298448"/>
            <a:ext cx="4846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Operation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13232" y="1810512"/>
            <a:ext cx="5852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B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CEBFF"/>
                </a:solidFill>
                <a:latin typeface="Arial"/>
                <a:ea typeface="Arial"/>
                <a:cs typeface="Arial"/>
                <a:sym typeface="Arial"/>
              </a:rPr>
              <a:t>From today's operating core to agentic industrial intelligence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31520" y="2377440"/>
            <a:ext cx="5303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1EA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BFD1EA"/>
                </a:solidFill>
                <a:latin typeface="Arial"/>
                <a:ea typeface="Arial"/>
                <a:cs typeface="Arial"/>
                <a:sym typeface="Arial"/>
              </a:rPr>
              <a:t>A visual story of the product evolution: current foundation, next-step AI and agent integration, and the path toward a full 3D operating model.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726680" y="1417320"/>
            <a:ext cx="2148840" cy="438912"/>
          </a:xfrm>
          <a:prstGeom prst="roundRect">
            <a:avLst>
              <a:gd fmla="val 8333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7863840" y="1554480"/>
            <a:ext cx="18745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Action layer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726680" y="2130552"/>
            <a:ext cx="2148840" cy="438912"/>
          </a:xfrm>
          <a:prstGeom prst="roundRect">
            <a:avLst>
              <a:gd fmla="val 8333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7863840" y="2267712"/>
            <a:ext cx="18745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 layer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726680" y="2843784"/>
            <a:ext cx="2148840" cy="438912"/>
          </a:xfrm>
          <a:prstGeom prst="roundRect">
            <a:avLst>
              <a:gd fmla="val 8333" name="adj"/>
            </a:avLst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7863840" y="2980944"/>
            <a:ext cx="18745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Process engine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7726680" y="3557016"/>
            <a:ext cx="2148840" cy="438912"/>
          </a:xfrm>
          <a:prstGeom prst="roundRect">
            <a:avLst>
              <a:gd fmla="val 8333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7863840" y="3694176"/>
            <a:ext cx="18745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Semantic data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10195560" y="1490472"/>
            <a:ext cx="347472" cy="347472"/>
          </a:xfrm>
          <a:prstGeom prst="ellipse">
            <a:avLst/>
          </a:prstGeom>
          <a:solidFill>
            <a:srgbClr val="F8FAFC"/>
          </a:solidFill>
          <a:ln cap="flat" cmpd="sng" w="12700">
            <a:solidFill>
              <a:srgbClr val="AEC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10259568" y="1591056"/>
            <a:ext cx="1828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10625328" y="1581912"/>
            <a:ext cx="54864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8F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D9E8FA"/>
                </a:solidFill>
                <a:latin typeface="Arial"/>
                <a:ea typeface="Arial"/>
                <a:cs typeface="Arial"/>
                <a:sym typeface="Arial"/>
              </a:rPr>
              <a:t>Perception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10195560" y="2203704"/>
            <a:ext cx="347472" cy="347472"/>
          </a:xfrm>
          <a:prstGeom prst="ellipse">
            <a:avLst/>
          </a:prstGeom>
          <a:solidFill>
            <a:srgbClr val="F8FAFC"/>
          </a:solidFill>
          <a:ln cap="flat" cmpd="sng" w="12700">
            <a:solidFill>
              <a:srgbClr val="AEC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10259568" y="2304288"/>
            <a:ext cx="1828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10625328" y="2295144"/>
            <a:ext cx="54864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8F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D9E8FA"/>
                </a:solidFill>
                <a:latin typeface="Arial"/>
                <a:ea typeface="Arial"/>
                <a:cs typeface="Arial"/>
                <a:sym typeface="Arial"/>
              </a:rPr>
              <a:t>Planning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10195560" y="2916936"/>
            <a:ext cx="347472" cy="347472"/>
          </a:xfrm>
          <a:prstGeom prst="ellipse">
            <a:avLst/>
          </a:prstGeom>
          <a:solidFill>
            <a:srgbClr val="F8FAFC"/>
          </a:solidFill>
          <a:ln cap="flat" cmpd="sng" w="12700">
            <a:solidFill>
              <a:srgbClr val="AEC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10259568" y="3017520"/>
            <a:ext cx="1828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10625328" y="3008376"/>
            <a:ext cx="54864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8F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D9E8FA"/>
                </a:solidFill>
                <a:latin typeface="Arial"/>
                <a:ea typeface="Arial"/>
                <a:cs typeface="Arial"/>
                <a:sym typeface="Arial"/>
              </a:rPr>
              <a:t>Reporting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749808" y="4023360"/>
            <a:ext cx="1554480" cy="292608"/>
          </a:xfrm>
          <a:prstGeom prst="rect">
            <a:avLst/>
          </a:prstGeom>
          <a:solidFill>
            <a:srgbClr val="1D4ED8"/>
          </a:solidFill>
          <a:ln cap="flat" cmpd="sng" w="9525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Operational core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2450592" y="4023360"/>
            <a:ext cx="1325880" cy="292608"/>
          </a:xfrm>
          <a:prstGeom prst="rect">
            <a:avLst/>
          </a:prstGeom>
          <a:solidFill>
            <a:srgbClr val="F59E0B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2A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A2A00"/>
                </a:solidFill>
                <a:latin typeface="Arial"/>
                <a:ea typeface="Arial"/>
                <a:cs typeface="Arial"/>
                <a:sym typeface="Arial"/>
              </a:rPr>
              <a:t>AI on top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3904488" y="4023360"/>
            <a:ext cx="1645920" cy="292608"/>
          </a:xfrm>
          <a:prstGeom prst="rect">
            <a:avLst/>
          </a:prstGeom>
          <a:solidFill>
            <a:srgbClr val="16A34A"/>
          </a:solidFill>
          <a:ln cap="flat" cmpd="sng" w="95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in-line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5687568" y="4023360"/>
            <a:ext cx="1600200" cy="292608"/>
          </a:xfrm>
          <a:prstGeom prst="rect">
            <a:avLst/>
          </a:prstGeom>
          <a:solidFill>
            <a:srgbClr val="06B6D4"/>
          </a:solidFill>
          <a:ln cap="flat" cmpd="sng" w="9525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334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83344"/>
                </a:solidFill>
                <a:latin typeface="Arial"/>
                <a:ea typeface="Arial"/>
                <a:cs typeface="Arial"/>
                <a:sym typeface="Arial"/>
              </a:rPr>
              <a:t>3D twin next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749808" y="4572000"/>
            <a:ext cx="5394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From system of record to system of action.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"/>
          <p:cNvSpPr txBox="1"/>
          <p:nvPr>
            <p:ph idx="4294967295" type="sldNum"/>
          </p:nvPr>
        </p:nvSpPr>
        <p:spPr>
          <a:xfrm>
            <a:off x="11567160" y="654710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/>
          <p:nvPr/>
        </p:nvSpPr>
        <p:spPr>
          <a:xfrm>
            <a:off x="548640" y="566928"/>
            <a:ext cx="8595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ONE already has in place today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66928" y="987552"/>
            <a:ext cx="8778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near-term story is extension, not replacement. The internal material consistently positions ONE/OPUS as an existing operational core with live workflows, APIs, dashboards, integrations, and maintenance coupling.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40080" y="1627632"/>
            <a:ext cx="3657600" cy="192024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640080" y="1627632"/>
            <a:ext cx="109728" cy="192024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896112" y="1792224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Operational foundation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914400" y="2231136"/>
            <a:ext cx="82296" cy="82296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1078992" y="2176272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Live workflows, issues, asset logic, and data pipelines in one platform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914400" y="2578608"/>
            <a:ext cx="82296" cy="82296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1078992" y="2523744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Shared operational touchpoints already exist in production settings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914400" y="2926080"/>
            <a:ext cx="82296" cy="82296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1078992" y="287121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core is described as the current operating foundation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526280" y="1627632"/>
            <a:ext cx="3246120" cy="192024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4526280" y="1627632"/>
            <a:ext cx="109728" cy="192024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4782312" y="1792224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Composable architecture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800600" y="2231136"/>
            <a:ext cx="82296" cy="82296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4965192" y="2176272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Features are vertically integrated and exposed through APIs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4800600" y="2578608"/>
            <a:ext cx="82296" cy="82296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4965192" y="2523744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Services consume and publish events on a shared service bus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4800600" y="2926080"/>
            <a:ext cx="82296" cy="82296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4965192" y="2871216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Core supports modular-monolith patterns plus microservices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8001000" y="1627632"/>
            <a:ext cx="3566160" cy="192024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8001000" y="1627632"/>
            <a:ext cx="109728" cy="192024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8257032" y="1792224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Ready for extension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8275320" y="2231136"/>
            <a:ext cx="82296" cy="82296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8439912" y="217627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Harmonized data + process orchestration already exist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8275320" y="2578608"/>
            <a:ext cx="82296" cy="82296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8439912" y="252374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Grafana, inventory, reporting, and maintenance are already coupled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8275320" y="2926080"/>
            <a:ext cx="82296" cy="82296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8439912" y="287121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3D frontend support and telemetry-to-visual pipeline are already in reach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676656" y="384048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Today's stack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822960" y="4251960"/>
            <a:ext cx="3657600" cy="329184"/>
          </a:xfrm>
          <a:prstGeom prst="roundRect">
            <a:avLst>
              <a:gd fmla="val 11111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1005840" y="4343400"/>
            <a:ext cx="3291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Dashboards / apps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822960" y="4709160"/>
            <a:ext cx="3657600" cy="329184"/>
          </a:xfrm>
          <a:prstGeom prst="roundRect">
            <a:avLst>
              <a:gd fmla="val 11111" name="adj"/>
            </a:avLst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"/>
          <p:cNvSpPr/>
          <p:nvPr/>
        </p:nvSpPr>
        <p:spPr>
          <a:xfrm>
            <a:off x="1005840" y="4800600"/>
            <a:ext cx="3291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Processes / workflows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822960" y="5166360"/>
            <a:ext cx="3657600" cy="329184"/>
          </a:xfrm>
          <a:prstGeom prst="roundRect">
            <a:avLst>
              <a:gd fmla="val 11111" name="adj"/>
            </a:avLst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1005840" y="5257800"/>
            <a:ext cx="3291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Service APIs + bus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822960" y="5623560"/>
            <a:ext cx="3657600" cy="329184"/>
          </a:xfrm>
          <a:prstGeom prst="roundRect">
            <a:avLst>
              <a:gd fmla="val 11111" name="adj"/>
            </a:avLst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1005840" y="5715000"/>
            <a:ext cx="32918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Harmonized data layer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4800600" y="4800600"/>
            <a:ext cx="640080" cy="384048"/>
          </a:xfrm>
          <a:prstGeom prst="chevron">
            <a:avLst>
              <a:gd fmla="val 50000" name="adj"/>
            </a:avLst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5623560" y="4224528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This is the stable base the next phase should build on.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5623560" y="4663440"/>
            <a:ext cx="2743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key implication: the product evolution should treat AI and agents as extensions of the existing service bus, process engine, and semantic context — not as a detached assistant bolted onto the UI.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8732520" y="4315968"/>
            <a:ext cx="1965960" cy="292608"/>
          </a:xfrm>
          <a:prstGeom prst="rect">
            <a:avLst/>
          </a:prstGeom>
          <a:solidFill>
            <a:srgbClr val="1D4ED8"/>
          </a:solidFill>
          <a:ln cap="flat" cmpd="sng" w="9525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Existing deployment base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8732520" y="4736592"/>
            <a:ext cx="1965960" cy="292608"/>
          </a:xfrm>
          <a:prstGeom prst="rect">
            <a:avLst/>
          </a:prstGeom>
          <a:solidFill>
            <a:srgbClr val="16A34A"/>
          </a:solidFill>
          <a:ln cap="flat" cmpd="sng" w="95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Existing operator workflows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8732520" y="5157216"/>
            <a:ext cx="1965960" cy="292608"/>
          </a:xfrm>
          <a:prstGeom prst="rect">
            <a:avLst/>
          </a:prstGeom>
          <a:solidFill>
            <a:srgbClr val="06B6D4"/>
          </a:solidFill>
          <a:ln cap="flat" cmpd="sng" w="9525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334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83344"/>
                </a:solidFill>
                <a:latin typeface="Arial"/>
                <a:ea typeface="Arial"/>
                <a:cs typeface="Arial"/>
                <a:sym typeface="Arial"/>
              </a:rPr>
              <a:t>Existing integration surface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>
            <p:ph idx="4294967295" type="sldNum"/>
          </p:nvPr>
        </p:nvSpPr>
        <p:spPr>
          <a:xfrm>
            <a:off x="11567160" y="654710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/>
          <p:nvPr/>
        </p:nvSpPr>
        <p:spPr>
          <a:xfrm>
            <a:off x="548640" y="566928"/>
            <a:ext cx="8595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product evolution in one view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566928" y="987552"/>
            <a:ext cx="8778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sequence appearing across the material is consistent: first activate AI on the core, then embed agentic workflows, then connect the logic to richer 3D spatial context.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_two_part_digital_infographic_visually_illustrate.png" id="106" name="Google Shape;106;p3"/>
          <p:cNvPicPr preferRelativeResize="0"/>
          <p:nvPr/>
        </p:nvPicPr>
        <p:blipFill rotWithShape="1">
          <a:blip r:embed="rId3">
            <a:alphaModFix/>
          </a:blip>
          <a:srcRect b="0" l="-12841" r="0" t="0"/>
          <a:stretch/>
        </p:blipFill>
        <p:spPr>
          <a:xfrm>
            <a:off x="3134350" y="1272200"/>
            <a:ext cx="6178426" cy="411867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/>
          <p:nvPr>
            <p:ph idx="4294967295" type="sldNum"/>
          </p:nvPr>
        </p:nvSpPr>
        <p:spPr>
          <a:xfrm>
            <a:off x="11567160" y="654710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548640" y="566928"/>
            <a:ext cx="8595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How agents should fit inside ONE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66928" y="987552"/>
            <a:ext cx="8778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clean operating model is not “assistant on the side,” but bounded, tool-using agents triggered inside the existing process architecture.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658368" y="1755648"/>
            <a:ext cx="1737360" cy="1874520"/>
          </a:xfrm>
          <a:prstGeom prst="roundRect">
            <a:avLst>
              <a:gd fmla="val 3158" name="adj"/>
            </a:avLst>
          </a:prstGeom>
          <a:solidFill>
            <a:srgbClr val="E0F2FE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786384" y="1920240"/>
            <a:ext cx="14813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 sources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914400" y="2258568"/>
            <a:ext cx="1225296" cy="201168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987552" y="2313432"/>
            <a:ext cx="107899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Sensors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914400" y="2560320"/>
            <a:ext cx="1225296" cy="201168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987552" y="2615184"/>
            <a:ext cx="107899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Lab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914400" y="2862072"/>
            <a:ext cx="1225296" cy="201168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987552" y="2916936"/>
            <a:ext cx="107899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Docs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914400" y="3163824"/>
            <a:ext cx="1225296" cy="201168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987552" y="3218688"/>
            <a:ext cx="107899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ERP/CMMS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2724912" y="1755648"/>
            <a:ext cx="1737360" cy="1874520"/>
          </a:xfrm>
          <a:prstGeom prst="roundRect">
            <a:avLst>
              <a:gd fmla="val 3158" name="adj"/>
            </a:avLst>
          </a:prstGeom>
          <a:solidFill>
            <a:srgbClr val="DBEAFE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2852928" y="1920240"/>
            <a:ext cx="14813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Semantic context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2980944" y="2258568"/>
            <a:ext cx="1225296" cy="201168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3054096" y="2313432"/>
            <a:ext cx="107899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Asset model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2980944" y="2560320"/>
            <a:ext cx="1225296" cy="201168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3054096" y="2615184"/>
            <a:ext cx="107899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History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2980944" y="2862072"/>
            <a:ext cx="1225296" cy="201168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3054096" y="2916936"/>
            <a:ext cx="107899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2980944" y="3163824"/>
            <a:ext cx="1225296" cy="201168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3054096" y="3218688"/>
            <a:ext cx="107899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Relationships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791456" y="1755648"/>
            <a:ext cx="1737360" cy="1874520"/>
          </a:xfrm>
          <a:prstGeom prst="roundRect">
            <a:avLst>
              <a:gd fmla="val 3158" name="adj"/>
            </a:avLst>
          </a:prstGeom>
          <a:solidFill>
            <a:srgbClr val="FEF3C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4919472" y="1920240"/>
            <a:ext cx="14813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Process engine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5047488" y="2258568"/>
            <a:ext cx="1225296" cy="201168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5120640" y="2313432"/>
            <a:ext cx="107899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Rules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5047488" y="2560320"/>
            <a:ext cx="1225296" cy="201168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5120640" y="2615184"/>
            <a:ext cx="107899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Events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5047488" y="2862072"/>
            <a:ext cx="1225296" cy="201168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5120640" y="2916936"/>
            <a:ext cx="107899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5047488" y="3163824"/>
            <a:ext cx="1225296" cy="201168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5120640" y="3218688"/>
            <a:ext cx="107899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Audit trails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6858000" y="1755648"/>
            <a:ext cx="1737360" cy="1874520"/>
          </a:xfrm>
          <a:prstGeom prst="roundRect">
            <a:avLst>
              <a:gd fmla="val 3158" name="adj"/>
            </a:avLst>
          </a:prstGeom>
          <a:solidFill>
            <a:srgbClr val="DCFCE7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6986016" y="1920240"/>
            <a:ext cx="14813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Agent workers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7114032" y="2258568"/>
            <a:ext cx="1225296" cy="201168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7187184" y="2313432"/>
            <a:ext cx="107899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Perceive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7114032" y="2560320"/>
            <a:ext cx="1225296" cy="201168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7187184" y="2615184"/>
            <a:ext cx="107899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Diagnose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7114032" y="2862072"/>
            <a:ext cx="1225296" cy="201168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7187184" y="2916936"/>
            <a:ext cx="107899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Plan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7114032" y="3163824"/>
            <a:ext cx="1225296" cy="201168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7187184" y="3218688"/>
            <a:ext cx="107899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Coordinate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8924544" y="1755648"/>
            <a:ext cx="1737360" cy="1874520"/>
          </a:xfrm>
          <a:prstGeom prst="roundRect">
            <a:avLst>
              <a:gd fmla="val 3158" name="adj"/>
            </a:avLst>
          </a:prstGeom>
          <a:solidFill>
            <a:srgbClr val="EDE9F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9052560" y="1920240"/>
            <a:ext cx="148132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Action layer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9180576" y="2258568"/>
            <a:ext cx="1225296" cy="201168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9253728" y="2313432"/>
            <a:ext cx="107899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Dashboards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9180576" y="2560320"/>
            <a:ext cx="1225296" cy="201168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9253728" y="2615184"/>
            <a:ext cx="107899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Work orders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9180576" y="2862072"/>
            <a:ext cx="1225296" cy="201168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9253728" y="2916936"/>
            <a:ext cx="107899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Inventory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9180576" y="3163824"/>
            <a:ext cx="1225296" cy="201168"/>
          </a:xfrm>
          <a:prstGeom prst="roundRect">
            <a:avLst>
              <a:gd fmla="val 1363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9253728" y="3218688"/>
            <a:ext cx="107899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Reporting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896112" y="406908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Design principle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914400" y="4462272"/>
            <a:ext cx="2331720" cy="9144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1024128" y="4617720"/>
            <a:ext cx="228600" cy="228600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1325880" y="4572000"/>
            <a:ext cx="17556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Trigger agents from operational events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3657600" y="4462272"/>
            <a:ext cx="2331720" cy="9144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3767328" y="4617720"/>
            <a:ext cx="228600" cy="22860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4069080" y="4572000"/>
            <a:ext cx="17556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Expose ONE APIs / services / history as tools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6400800" y="4462272"/>
            <a:ext cx="2331720" cy="9144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6510528" y="4617720"/>
            <a:ext cx="228600" cy="228600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6812280" y="4572000"/>
            <a:ext cx="17556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Keep human approval for consequential actions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9144000" y="4462272"/>
            <a:ext cx="2331720" cy="9144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9253728" y="4617720"/>
            <a:ext cx="228600" cy="22860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9555480" y="4572000"/>
            <a:ext cx="17556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Write every invocation back to the audit trail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 txBox="1"/>
          <p:nvPr>
            <p:ph idx="4294967295" type="sldNum"/>
          </p:nvPr>
        </p:nvSpPr>
        <p:spPr>
          <a:xfrm>
            <a:off x="11567160" y="654710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/>
          <p:nvPr/>
        </p:nvSpPr>
        <p:spPr>
          <a:xfrm>
            <a:off x="548640" y="566928"/>
            <a:ext cx="8595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 practical rollout path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566928" y="987552"/>
            <a:ext cx="8778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recommended rollout sequence keeps delivery risk low while converting the current operational base into measurable intelligence and automation.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731520" y="1737360"/>
            <a:ext cx="3429000" cy="3337560"/>
          </a:xfrm>
          <a:prstGeom prst="roundRect">
            <a:avLst>
              <a:gd fmla="val 1644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914400" y="1938528"/>
            <a:ext cx="512064" cy="347472"/>
          </a:xfrm>
          <a:prstGeom prst="roundRect">
            <a:avLst>
              <a:gd fmla="val 21053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996696" y="2039112"/>
            <a:ext cx="16459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1554480" y="1975104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AI on the core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5"/>
          <p:cNvCxnSpPr/>
          <p:nvPr/>
        </p:nvCxnSpPr>
        <p:spPr>
          <a:xfrm>
            <a:off x="1005840" y="2578608"/>
            <a:ext cx="164592" cy="0"/>
          </a:xfrm>
          <a:prstGeom prst="straightConnector1">
            <a:avLst/>
          </a:prstGeom>
          <a:noFill/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5"/>
          <p:cNvSpPr/>
          <p:nvPr/>
        </p:nvSpPr>
        <p:spPr>
          <a:xfrm>
            <a:off x="1261872" y="2450592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Start with prediction, anomaly detection, and guided decisions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p5"/>
          <p:cNvCxnSpPr/>
          <p:nvPr/>
        </p:nvCxnSpPr>
        <p:spPr>
          <a:xfrm>
            <a:off x="1005840" y="3218688"/>
            <a:ext cx="164592" cy="0"/>
          </a:xfrm>
          <a:prstGeom prst="straightConnector1">
            <a:avLst/>
          </a:prstGeom>
          <a:noFill/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5"/>
          <p:cNvSpPr/>
          <p:nvPr/>
        </p:nvSpPr>
        <p:spPr>
          <a:xfrm>
            <a:off x="1261872" y="3090672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Use existing plant/process data and current workflows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5"/>
          <p:cNvCxnSpPr/>
          <p:nvPr/>
        </p:nvCxnSpPr>
        <p:spPr>
          <a:xfrm>
            <a:off x="1005840" y="3858768"/>
            <a:ext cx="164592" cy="0"/>
          </a:xfrm>
          <a:prstGeom prst="straightConnector1">
            <a:avLst/>
          </a:prstGeom>
          <a:noFill/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5"/>
          <p:cNvSpPr/>
          <p:nvPr/>
        </p:nvSpPr>
        <p:spPr>
          <a:xfrm>
            <a:off x="1261872" y="3730752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Focus on operator-facing recommendations first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4526280" y="1737360"/>
            <a:ext cx="3429000" cy="3337560"/>
          </a:xfrm>
          <a:prstGeom prst="roundRect">
            <a:avLst>
              <a:gd fmla="val 1644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4709160" y="1938528"/>
            <a:ext cx="512064" cy="347472"/>
          </a:xfrm>
          <a:prstGeom prst="roundRect">
            <a:avLst>
              <a:gd fmla="val 21053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4791456" y="2039112"/>
            <a:ext cx="16459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5349240" y="1975104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Agentic workflows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" name="Google Shape;200;p5"/>
          <p:cNvCxnSpPr/>
          <p:nvPr/>
        </p:nvCxnSpPr>
        <p:spPr>
          <a:xfrm>
            <a:off x="4800600" y="2578608"/>
            <a:ext cx="164592" cy="0"/>
          </a:xfrm>
          <a:prstGeom prst="straightConnector1">
            <a:avLst/>
          </a:prstGeom>
          <a:noFill/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5"/>
          <p:cNvSpPr/>
          <p:nvPr/>
        </p:nvSpPr>
        <p:spPr>
          <a:xfrm>
            <a:off x="5056632" y="2450592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Move from recommendations to drafted actions and escalations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p5"/>
          <p:cNvCxnSpPr/>
          <p:nvPr/>
        </p:nvCxnSpPr>
        <p:spPr>
          <a:xfrm>
            <a:off x="4800600" y="3218688"/>
            <a:ext cx="164592" cy="0"/>
          </a:xfrm>
          <a:prstGeom prst="straightConnector1">
            <a:avLst/>
          </a:prstGeom>
          <a:noFill/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5"/>
          <p:cNvSpPr/>
          <p:nvPr/>
        </p:nvSpPr>
        <p:spPr>
          <a:xfrm>
            <a:off x="5056632" y="3090672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Bind agents to process context and ONE tools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5"/>
          <p:cNvCxnSpPr/>
          <p:nvPr/>
        </p:nvCxnSpPr>
        <p:spPr>
          <a:xfrm>
            <a:off x="4800600" y="3858768"/>
            <a:ext cx="164592" cy="0"/>
          </a:xfrm>
          <a:prstGeom prst="straightConnector1">
            <a:avLst/>
          </a:prstGeom>
          <a:noFill/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5"/>
          <p:cNvSpPr/>
          <p:nvPr/>
        </p:nvSpPr>
        <p:spPr>
          <a:xfrm>
            <a:off x="5056632" y="3730752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Keep humans in the loop for approvals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8321040" y="1737360"/>
            <a:ext cx="3429000" cy="3337560"/>
          </a:xfrm>
          <a:prstGeom prst="roundRect">
            <a:avLst>
              <a:gd fmla="val 1644" name="adj"/>
            </a:avLst>
          </a:prstGeom>
          <a:solidFill>
            <a:srgbClr val="FFFFFF"/>
          </a:solidFill>
          <a:ln cap="flat" cmpd="sng" w="12700">
            <a:solidFill>
              <a:srgbClr val="D7E1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8503920" y="1938528"/>
            <a:ext cx="512064" cy="347472"/>
          </a:xfrm>
          <a:prstGeom prst="roundRect">
            <a:avLst>
              <a:gd fmla="val 21053" name="adj"/>
            </a:avLst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8586216" y="2039112"/>
            <a:ext cx="16459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9144000" y="1975104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3D operating model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5"/>
          <p:cNvCxnSpPr/>
          <p:nvPr/>
        </p:nvCxnSpPr>
        <p:spPr>
          <a:xfrm>
            <a:off x="8595360" y="2578608"/>
            <a:ext cx="164592" cy="0"/>
          </a:xfrm>
          <a:prstGeom prst="straightConnector1">
            <a:avLst/>
          </a:prstGeom>
          <a:noFill/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5"/>
          <p:cNvSpPr/>
          <p:nvPr/>
        </p:nvSpPr>
        <p:spPr>
          <a:xfrm>
            <a:off x="8851392" y="2450592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Connect logic to the plant twin first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5"/>
          <p:cNvCxnSpPr/>
          <p:nvPr/>
        </p:nvCxnSpPr>
        <p:spPr>
          <a:xfrm>
            <a:off x="8595360" y="3218688"/>
            <a:ext cx="164592" cy="0"/>
          </a:xfrm>
          <a:prstGeom prst="straightConnector1">
            <a:avLst/>
          </a:prstGeom>
          <a:noFill/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5"/>
          <p:cNvSpPr/>
          <p:nvPr/>
        </p:nvSpPr>
        <p:spPr>
          <a:xfrm>
            <a:off x="8851392" y="3090672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Expand from plant context into mine / broader physical model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p5"/>
          <p:cNvCxnSpPr/>
          <p:nvPr/>
        </p:nvCxnSpPr>
        <p:spPr>
          <a:xfrm>
            <a:off x="8595360" y="3858768"/>
            <a:ext cx="164592" cy="0"/>
          </a:xfrm>
          <a:prstGeom prst="straightConnector1">
            <a:avLst/>
          </a:prstGeom>
          <a:noFill/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5"/>
          <p:cNvSpPr/>
          <p:nvPr/>
        </p:nvSpPr>
        <p:spPr>
          <a:xfrm>
            <a:off x="8851392" y="3730752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Use spatial context for diagnostics, simulation, and planning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p5"/>
          <p:cNvCxnSpPr/>
          <p:nvPr/>
        </p:nvCxnSpPr>
        <p:spPr>
          <a:xfrm>
            <a:off x="2423160" y="5440680"/>
            <a:ext cx="7269480" cy="0"/>
          </a:xfrm>
          <a:prstGeom prst="straightConnector1">
            <a:avLst/>
          </a:prstGeom>
          <a:noFill/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5"/>
          <p:cNvSpPr/>
          <p:nvPr/>
        </p:nvSpPr>
        <p:spPr>
          <a:xfrm>
            <a:off x="749808" y="5641848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Outcome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1874520" y="5559552"/>
            <a:ext cx="9052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60"/>
              <a:buFont typeface="Arial"/>
              <a:buNone/>
            </a:pPr>
            <a:r>
              <a:rPr b="0" i="0" lang="en-US" sz="116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From a solid digital operations base to a profit-improvement system: higher throughput, less downtime, lower maintenance cost, fewer handoff errors, and leaner operations.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5"/>
          <p:cNvSpPr txBox="1"/>
          <p:nvPr>
            <p:ph idx="4294967295" type="sldNum"/>
          </p:nvPr>
        </p:nvSpPr>
        <p:spPr>
          <a:xfrm>
            <a:off x="11567160" y="654710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"/>
          <p:cNvSpPr/>
          <p:nvPr/>
        </p:nvSpPr>
        <p:spPr>
          <a:xfrm>
            <a:off x="685800" y="749808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Bottom line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685800" y="1078992"/>
            <a:ext cx="6766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should evolve by embedding intelligence into the platform it already has.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713232" y="1828800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E4F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D5E4F8"/>
                </a:solidFill>
                <a:latin typeface="Arial"/>
                <a:ea typeface="Arial"/>
                <a:cs typeface="Arial"/>
                <a:sym typeface="Arial"/>
              </a:rPr>
              <a:t>Not a chatbot beside operations. An agent-capable operating system inside operations.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731520" y="2651760"/>
            <a:ext cx="713232" cy="292608"/>
          </a:xfrm>
          <a:prstGeom prst="roundRect">
            <a:avLst>
              <a:gd fmla="val 18750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960120" y="2743200"/>
            <a:ext cx="45720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Today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1874520" y="267919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Composable operational core with workflows, APIs, service bus, dashboards, and data context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731520" y="3383280"/>
            <a:ext cx="713232" cy="292608"/>
          </a:xfrm>
          <a:prstGeom prst="roundRect">
            <a:avLst>
              <a:gd fmla="val 18750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960120" y="3474720"/>
            <a:ext cx="45720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2A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A2A00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1874520" y="341071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models on the core for prediction, anomaly detection, and guided decisions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731520" y="4114800"/>
            <a:ext cx="713232" cy="292608"/>
          </a:xfrm>
          <a:prstGeom prst="roundRect">
            <a:avLst>
              <a:gd fmla="val 18750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960120" y="4206240"/>
            <a:ext cx="45720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1874520" y="414223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Bounded agents that act through ONE tools and process context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731520" y="4846320"/>
            <a:ext cx="713232" cy="292608"/>
          </a:xfrm>
          <a:prstGeom prst="roundRect">
            <a:avLst>
              <a:gd fmla="val 18750" name="adj"/>
            </a:avLst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960120" y="4937760"/>
            <a:ext cx="45720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Later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1874520" y="487375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full 3D operating model that adds spatial reasoning and simulation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713232" y="5925312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DAF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6DAF5"/>
                </a:solidFill>
                <a:latin typeface="Arial"/>
                <a:ea typeface="Arial"/>
                <a:cs typeface="Arial"/>
                <a:sym typeface="Arial"/>
              </a:rPr>
              <a:t>Recommended framing for the story: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2880360" y="5870448"/>
            <a:ext cx="6217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“We are not starting from zero. We are activating more of the architecture.”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6"/>
          <p:cNvSpPr txBox="1"/>
          <p:nvPr>
            <p:ph idx="4294967295" type="sldNum"/>
          </p:nvPr>
        </p:nvSpPr>
        <p:spPr>
          <a:xfrm>
            <a:off x="11567160" y="654710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2026-04-05T12:40:59Z</dcterms:created>
  <dc:creator>OpenAI</dc:creator>
</cp:coreProperties>
</file>