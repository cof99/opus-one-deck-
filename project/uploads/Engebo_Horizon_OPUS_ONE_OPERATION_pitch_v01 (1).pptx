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ngebo_assets/crop_aerial_full.jpg">    </p:cNvPr>
          <p:cNvPicPr>
            <a:picLocks noChangeAspect="1"/>
          </p:cNvPicPr>
          <p:nvPr/>
        </p:nvPicPr>
        <p:blipFill>
          <a:blip r:embed="rId1"/>
          <a:srcRect l="0" r="12002" t="2000" b="100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D36">
              <a:alpha val="83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5349240"/>
            <a:ext cx="2834640" cy="45720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658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987552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OPUS ONE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530352" y="29077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Én operasjonsflate for ramp-up, vedlikehold og agentbasert verdiskaping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30352" y="55229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Pitch-oppsett  |  v0.1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0352" y="581558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 applikasjons-vertikaler til flyt, agenter og prediktiv drift.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ngebo_assets/crop_site_right.jpg">    </p:cNvPr>
          <p:cNvPicPr>
            <a:picLocks noChangeAspect="1"/>
          </p:cNvPicPr>
          <p:nvPr/>
        </p:nvPicPr>
        <p:blipFill>
          <a:blip r:embed="rId1"/>
          <a:srcRect l="8000" r="-8057" t="0" b="0"/>
          <a:stretch/>
        </p:blipFill>
        <p:spPr>
          <a:xfrm>
            <a:off x="7406640" y="0"/>
            <a:ext cx="47850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062D36">
              <a:alpha val="78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9202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SITUASJON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062D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Hvorfor nå: ramp-up krever ett operativt nervesystem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502920" y="99669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har publiserte tegn til framgang, men verdien ligger i å stabilisere, lære og skalere raskere — uten å øke kompleksiteten.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984248"/>
            <a:ext cx="17830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D94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91 %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731520" y="2553462"/>
            <a:ext cx="178308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 designkapasitet i mars 2026 — etter 13 % økning i operasjonell oppetid i Q1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34640" y="187452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1984248"/>
            <a:ext cx="17830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D94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60 %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2971800" y="2553462"/>
            <a:ext cx="178308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operasjonstid milling i Q1 2026, opp fra 53 % i Q4 2025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74920" y="187452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0" y="1984248"/>
            <a:ext cx="17830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D94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 år</a:t>
            </a:r>
            <a:endParaRPr lang="en-US" sz="3100" dirty="0"/>
          </a:p>
        </p:txBody>
      </p:sp>
      <p:sp>
        <p:nvSpPr>
          <p:cNvPr id="15" name="Text 12"/>
          <p:cNvSpPr/>
          <p:nvPr/>
        </p:nvSpPr>
        <p:spPr>
          <a:xfrm>
            <a:off x="5212080" y="2553462"/>
            <a:ext cx="178308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estimert mine life gir grunnlag for industriell læring og kontinuerlig forbedring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" y="3685032"/>
            <a:ext cx="6355080" cy="45720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Dagens nøkkelbilde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94360" y="4315968"/>
            <a:ext cx="63093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Første produksjonsår er preget av opptrapping, flaskehalser og økt fokus på stabilitet.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Improvement plan har allerede gitt bedre oppetid/throughput; neste fase handler om mineral recovery og designytelse.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Dette er riktig tidspunkt for å gjøre data, arbeidsprosesser og beslutninger agent-klare.</a:t>
            </a:r>
            <a:endParaRPr lang="en-US" sz="1370" dirty="0"/>
          </a:p>
        </p:txBody>
      </p:sp>
      <p:sp>
        <p:nvSpPr>
          <p:cNvPr id="19" name="Shape 16"/>
          <p:cNvSpPr/>
          <p:nvPr/>
        </p:nvSpPr>
        <p:spPr>
          <a:xfrm>
            <a:off x="8229600" y="5833872"/>
            <a:ext cx="3200400" cy="292608"/>
          </a:xfrm>
          <a:prstGeom prst="roundRect">
            <a:avLst>
              <a:gd name="adj" fmla="val 62500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75320" y="583387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Mål: designkapasitet ved årsslutt 2026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Kilder: Nordic Mining Q1 2026 Production Update / Q1 2026 report; Annual Report 2025; Engebø project materials.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DAGENS PROSESSER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62D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Dagens prosessbilde: mange vertikaler, mye manuell brobygging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9966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Når data og ansvar ligger i system-siloer, må mennesker fungere som integrasjonsmotor. Da blir agent og automasjon vanskelig.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444752" cy="3154680"/>
          </a:xfrm>
          <a:prstGeom prst="roundRect">
            <a:avLst>
              <a:gd name="adj" fmla="val 5063"/>
            </a:avLst>
          </a:prstGeom>
          <a:solidFill>
            <a:srgbClr val="003C43"/>
          </a:solidFill>
          <a:ln w="12700">
            <a:solidFill>
              <a:srgbClr val="003C4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1444752" cy="118872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5681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SCADA /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852928"/>
            <a:ext cx="1207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tags, alarmer, trends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1906524" y="1783080"/>
            <a:ext cx="41148" cy="3008376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645920"/>
            <a:ext cx="1444752" cy="3154680"/>
          </a:xfrm>
          <a:prstGeom prst="roundRect">
            <a:avLst>
              <a:gd name="adj" fmla="val 5063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645920"/>
            <a:ext cx="1444752" cy="118872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95681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76272" y="2852928"/>
            <a:ext cx="1207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arbeidsordre, feil, backlog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461004" y="1783080"/>
            <a:ext cx="41148" cy="3008376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1645920"/>
            <a:ext cx="1444752" cy="3154680"/>
          </a:xfrm>
          <a:prstGeom prst="roundRect">
            <a:avLst>
              <a:gd name="adj" fmla="val 5063"/>
            </a:avLst>
          </a:prstGeom>
          <a:solidFill>
            <a:srgbClr val="003C43"/>
          </a:solidFill>
          <a:ln w="12700">
            <a:solidFill>
              <a:srgbClr val="003C4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1880" y="1645920"/>
            <a:ext cx="1444752" cy="118872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95681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/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Innkjøp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30752" y="2852928"/>
            <a:ext cx="1207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lager, ordre, faktura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015484" y="1783080"/>
            <a:ext cx="41148" cy="3008376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645920"/>
            <a:ext cx="1444752" cy="3154680"/>
          </a:xfrm>
          <a:prstGeom prst="roundRect">
            <a:avLst>
              <a:gd name="adj" fmla="val 5063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0" y="1645920"/>
            <a:ext cx="1444752" cy="118872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95681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LIMS /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85232" y="2852928"/>
            <a:ext cx="1207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prøver, kvalitet, recovery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569964" y="1783080"/>
            <a:ext cx="41148" cy="3008376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1645920"/>
            <a:ext cx="1444752" cy="3154680"/>
          </a:xfrm>
          <a:prstGeom prst="roundRect">
            <a:avLst>
              <a:gd name="adj" fmla="val 5063"/>
            </a:avLst>
          </a:prstGeom>
          <a:solidFill>
            <a:srgbClr val="003C43"/>
          </a:solidFill>
          <a:ln w="12700">
            <a:solidFill>
              <a:srgbClr val="003C4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1645920"/>
            <a:ext cx="1444752" cy="118872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95681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Doku-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39712" y="2852928"/>
            <a:ext cx="1207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manualer, tegninger, prosedyrer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124444" y="1783080"/>
            <a:ext cx="41148" cy="3008376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1645920"/>
            <a:ext cx="1444752" cy="3154680"/>
          </a:xfrm>
          <a:prstGeom prst="roundRect">
            <a:avLst>
              <a:gd name="adj" fmla="val 5063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1645920"/>
            <a:ext cx="1444752" cy="118872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195681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Leverandør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94192" y="2852928"/>
            <a:ext cx="1207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service, rapporter, garanti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9678924" y="1783080"/>
            <a:ext cx="41148" cy="3008376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29800" y="1645920"/>
            <a:ext cx="1444752" cy="3154680"/>
          </a:xfrm>
          <a:prstGeom prst="roundRect">
            <a:avLst>
              <a:gd name="adj" fmla="val 5063"/>
            </a:avLst>
          </a:prstGeom>
          <a:solidFill>
            <a:srgbClr val="003C43"/>
          </a:solidFill>
          <a:ln w="12700">
            <a:solidFill>
              <a:srgbClr val="003C4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29800" y="1645920"/>
            <a:ext cx="1444752" cy="118872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0" y="195681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/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E-post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48672" y="2852928"/>
            <a:ext cx="1207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skiftlogg, avvik, handover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11233404" y="1783080"/>
            <a:ext cx="41148" cy="3008376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5148072"/>
            <a:ext cx="10424160" cy="0"/>
          </a:xfrm>
          <a:prstGeom prst="line">
            <a:avLst/>
          </a:prstGeom>
          <a:noFill/>
          <a:ln w="27940">
            <a:solidFill>
              <a:srgbClr val="D94B3D"/>
            </a:solidFill>
            <a:prstDash val="solid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777240" y="5394960"/>
            <a:ext cx="10698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Konsekvens: kopiere data, tolke alarmer, lete i dokumenter, ringe leverandør, re-taste i CMMS/ERP — og bygge hver rapport på nytt.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Illustrativt prosessbilde for discovery. Skal valideres mot faktisk systemlandskap og arbeidsflyt ved Engebø.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ngebo_assets/crop_banner_right.jpg">    </p:cNvPr>
          <p:cNvPicPr>
            <a:picLocks noChangeAspect="1"/>
          </p:cNvPicPr>
          <p:nvPr/>
        </p:nvPicPr>
        <p:blipFill>
          <a:blip r:embed="rId1"/>
          <a:srcRect l="5000" r="-5000" t="0" b="0"/>
          <a:stretch/>
        </p:blipFill>
        <p:spPr>
          <a:xfrm>
            <a:off x="8823960" y="0"/>
            <a:ext cx="33649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23960" y="0"/>
            <a:ext cx="3364992" cy="6858000"/>
          </a:xfrm>
          <a:prstGeom prst="rect">
            <a:avLst/>
          </a:prstGeom>
          <a:solidFill>
            <a:srgbClr val="062D36">
              <a:alpha val="74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920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MÅLBILDE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2D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OPUS ONE: ett lag over drift, vedlikehold og forretning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9966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Prosjektet bryter ned applikasjons-vertikalene ved å etablere et felles operasjonslag — uten å bytte ut alt som allerede virker.</a:t>
            </a:r>
            <a:endParaRPr lang="en-US" sz="1420" dirty="0"/>
          </a:p>
        </p:txBody>
      </p:sp>
      <p:sp>
        <p:nvSpPr>
          <p:cNvPr id="7" name="Shape 4"/>
          <p:cNvSpPr/>
          <p:nvPr/>
        </p:nvSpPr>
        <p:spPr>
          <a:xfrm>
            <a:off x="502920" y="5166360"/>
            <a:ext cx="960120" cy="621792"/>
          </a:xfrm>
          <a:prstGeom prst="roundRect">
            <a:avLst>
              <a:gd name="adj" fmla="val 17647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5193792"/>
            <a:ext cx="704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SCADA/Historian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645920" y="5166360"/>
            <a:ext cx="960120" cy="621792"/>
          </a:xfrm>
          <a:prstGeom prst="roundRect">
            <a:avLst>
              <a:gd name="adj" fmla="val 17647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73936" y="5193792"/>
            <a:ext cx="704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CMMS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88920" y="5166360"/>
            <a:ext cx="960120" cy="621792"/>
          </a:xfrm>
          <a:prstGeom prst="roundRect">
            <a:avLst>
              <a:gd name="adj" fmla="val 17647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16936" y="5193792"/>
            <a:ext cx="704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ERP/lager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31920" y="5166360"/>
            <a:ext cx="960120" cy="621792"/>
          </a:xfrm>
          <a:prstGeom prst="roundRect">
            <a:avLst>
              <a:gd name="adj" fmla="val 17647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9936" y="5193792"/>
            <a:ext cx="704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LIMS/lab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74920" y="5166360"/>
            <a:ext cx="960120" cy="621792"/>
          </a:xfrm>
          <a:prstGeom prst="roundRect">
            <a:avLst>
              <a:gd name="adj" fmla="val 17647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02936" y="5193792"/>
            <a:ext cx="704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DMS/docs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17920" y="5166360"/>
            <a:ext cx="960120" cy="621792"/>
          </a:xfrm>
          <a:prstGeom prst="roundRect">
            <a:avLst>
              <a:gd name="adj" fmla="val 17647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5193792"/>
            <a:ext cx="704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Leverandør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360920" y="5166360"/>
            <a:ext cx="960120" cy="621792"/>
          </a:xfrm>
          <a:prstGeom prst="roundRect">
            <a:avLst>
              <a:gd name="adj" fmla="val 17647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88936" y="5193792"/>
            <a:ext cx="704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Skiftlogg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87552" y="5138928"/>
            <a:ext cx="0" cy="-731520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130552" y="5138928"/>
            <a:ext cx="0" cy="-731520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273552" y="5138928"/>
            <a:ext cx="0" cy="-731520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416552" y="5138928"/>
            <a:ext cx="0" cy="-731520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559552" y="5138928"/>
            <a:ext cx="0" cy="-731520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702552" y="5138928"/>
            <a:ext cx="0" cy="-731520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845552" y="5138928"/>
            <a:ext cx="0" cy="-731520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4400" y="3291840"/>
            <a:ext cx="7269480" cy="0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658368" y="2761488"/>
            <a:ext cx="8001000" cy="1234440"/>
          </a:xfrm>
          <a:prstGeom prst="roundRect">
            <a:avLst>
              <a:gd name="adj" fmla="val 13333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2862072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OPUS ONE OPERASJONSLAG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868680" y="3264408"/>
            <a:ext cx="7498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asset- og prosessmodell  •  hendelsesstrøm  •  datakontrakter  •  agent-orchestrering  •  styring og audit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1508760" y="2761488"/>
            <a:ext cx="0" cy="-429768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40080" y="1664208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" y="1691640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Operasjonsskift</a:t>
            </a:r>
            <a:endParaRPr lang="en-US" sz="1240" dirty="0"/>
          </a:p>
        </p:txBody>
      </p:sp>
      <p:sp>
        <p:nvSpPr>
          <p:cNvPr id="35" name="Text 32"/>
          <p:cNvSpPr/>
          <p:nvPr/>
        </p:nvSpPr>
        <p:spPr>
          <a:xfrm>
            <a:off x="640080" y="22768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brief, handover, avvik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502152" y="2761488"/>
            <a:ext cx="0" cy="-429768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2633472" y="1664208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03C43"/>
          </a:solidFill>
          <a:ln w="12700">
            <a:solidFill>
              <a:srgbClr val="003C43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61488" y="1691640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Vedlikehold</a:t>
            </a:r>
            <a:endParaRPr lang="en-US" sz="1240" dirty="0"/>
          </a:p>
        </p:txBody>
      </p:sp>
      <p:sp>
        <p:nvSpPr>
          <p:cNvPr id="39" name="Text 36"/>
          <p:cNvSpPr/>
          <p:nvPr/>
        </p:nvSpPr>
        <p:spPr>
          <a:xfrm>
            <a:off x="2633472" y="22768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triage, work-pack, parts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495544" y="2761488"/>
            <a:ext cx="0" cy="-429768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4626864" y="1664208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0" y="1691640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Prosess / lab</a:t>
            </a:r>
            <a:endParaRPr lang="en-US" sz="1240" dirty="0"/>
          </a:p>
        </p:txBody>
      </p:sp>
      <p:sp>
        <p:nvSpPr>
          <p:cNvPr id="43" name="Text 40"/>
          <p:cNvSpPr/>
          <p:nvPr/>
        </p:nvSpPr>
        <p:spPr>
          <a:xfrm>
            <a:off x="4626864" y="22768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recovery, tuning, simulering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488936" y="2761488"/>
            <a:ext cx="0" cy="-429768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6620256" y="1664208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03C43"/>
          </a:solidFill>
          <a:ln w="12700">
            <a:solidFill>
              <a:srgbClr val="003C43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48272" y="1691640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Ledelse</a:t>
            </a:r>
            <a:endParaRPr lang="en-US" sz="1240" dirty="0"/>
          </a:p>
        </p:txBody>
      </p:sp>
      <p:sp>
        <p:nvSpPr>
          <p:cNvPr id="47" name="Text 44"/>
          <p:cNvSpPr/>
          <p:nvPr/>
        </p:nvSpPr>
        <p:spPr>
          <a:xfrm>
            <a:off x="6620256" y="22768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KPI, risiko, beslutninger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58368" y="4160520"/>
            <a:ext cx="78638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Mennesket godkjenner. Agenten finner, sammenstiller, foreslår og dokumenterer.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50" name="Text 47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Bygger på agentic AI-prinsipp: agenter må integreres dypt i arbeidsprosesser og enterprise-systemer, ikke bare ligge som chat ved siden av.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2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ngebo_assets/crop_operator_full.jpg">    </p:cNvPr>
          <p:cNvPicPr>
            <a:picLocks noChangeAspect="1"/>
          </p:cNvPicPr>
          <p:nvPr/>
        </p:nvPicPr>
        <p:blipFill>
          <a:blip r:embed="rId1"/>
          <a:srcRect l="4000" r="-3997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D36">
              <a:alpha val="78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629400" y="0"/>
            <a:ext cx="5559552" cy="6858000"/>
          </a:xfrm>
          <a:prstGeom prst="rect">
            <a:avLst/>
          </a:prstGeom>
          <a:solidFill>
            <a:srgbClr val="062D36">
              <a:alpha val="97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3720" y="32004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AGENTBASERT DRIFT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03720" y="5303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Agentene gir tiden tilbake på gulvet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6903720" y="11247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Første gevinst er ikke «autonom fabrikk». Det er mindre friksjon i hver skiftlogg, hver feil, hver arbeidsordre og hver serviceavklaring.</a:t>
            </a:r>
            <a:endParaRPr lang="en-US" sz="1360" dirty="0"/>
          </a:p>
        </p:txBody>
      </p:sp>
      <p:sp>
        <p:nvSpPr>
          <p:cNvPr id="8" name="Text 5"/>
          <p:cNvSpPr/>
          <p:nvPr/>
        </p:nvSpPr>
        <p:spPr>
          <a:xfrm>
            <a:off x="6931152" y="2148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SIMULERT PILOTGEVINST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903720" y="235915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6 900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9253728" y="258775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timer/år tilbake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931152" y="3090672"/>
            <a:ext cx="4663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Regnestykke: 50 roller × 3 timer/uke × 46 uker. Dette er konservativt mot publiserte feltservice-benchmarks på 7+ timer/uke i lavverdi/admin.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24344" y="4462272"/>
            <a:ext cx="347472" cy="0"/>
          </a:xfrm>
          <a:prstGeom prst="line">
            <a:avLst/>
          </a:prstGeom>
          <a:noFill/>
          <a:ln w="1016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129016" y="4462272"/>
            <a:ext cx="347472" cy="0"/>
          </a:xfrm>
          <a:prstGeom prst="line">
            <a:avLst/>
          </a:prstGeom>
          <a:noFill/>
          <a:ln w="1016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933688" y="4462272"/>
            <a:ext cx="347472" cy="0"/>
          </a:xfrm>
          <a:prstGeom prst="line">
            <a:avLst/>
          </a:prstGeom>
          <a:noFill/>
          <a:ln w="1016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738360" y="4462272"/>
            <a:ext cx="347472" cy="0"/>
          </a:xfrm>
          <a:prstGeom prst="line">
            <a:avLst/>
          </a:prstGeom>
          <a:noFill/>
          <a:ln w="1016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0543032" y="4462272"/>
            <a:ext cx="347472" cy="0"/>
          </a:xfrm>
          <a:prstGeom prst="line">
            <a:avLst/>
          </a:prstGeom>
          <a:noFill/>
          <a:ln w="1016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903720" y="4206240"/>
            <a:ext cx="502920" cy="5029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427939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30568" y="4800600"/>
            <a:ext cx="6583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Skiftbrief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 siste hendelser</a:t>
            </a:r>
            <a:endParaRPr lang="en-US" sz="730" dirty="0"/>
          </a:p>
        </p:txBody>
      </p:sp>
      <p:sp>
        <p:nvSpPr>
          <p:cNvPr id="20" name="Shape 17"/>
          <p:cNvSpPr/>
          <p:nvPr/>
        </p:nvSpPr>
        <p:spPr>
          <a:xfrm>
            <a:off x="7708392" y="4206240"/>
            <a:ext cx="502920" cy="5029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08392" y="427939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635240" y="4800600"/>
            <a:ext cx="6583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Feiltriage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 forslag</a:t>
            </a:r>
            <a:endParaRPr lang="en-US" sz="730" dirty="0"/>
          </a:p>
        </p:txBody>
      </p:sp>
      <p:sp>
        <p:nvSpPr>
          <p:cNvPr id="23" name="Shape 20"/>
          <p:cNvSpPr/>
          <p:nvPr/>
        </p:nvSpPr>
        <p:spPr>
          <a:xfrm>
            <a:off x="8513064" y="4206240"/>
            <a:ext cx="502920" cy="5029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13064" y="427939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439912" y="4800600"/>
            <a:ext cx="6583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Doku-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mentfunn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9317736" y="4206240"/>
            <a:ext cx="502920" cy="502920"/>
          </a:xfrm>
          <a:prstGeom prst="ellipse">
            <a:avLst/>
          </a:prstGeom>
          <a:solidFill>
            <a:srgbClr val="0E5A5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17736" y="427939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244584" y="4800600"/>
            <a:ext cx="6583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Work-pack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deler</a:t>
            </a:r>
            <a:endParaRPr lang="en-US" sz="730" dirty="0"/>
          </a:p>
        </p:txBody>
      </p:sp>
      <p:sp>
        <p:nvSpPr>
          <p:cNvPr id="29" name="Shape 26"/>
          <p:cNvSpPr/>
          <p:nvPr/>
        </p:nvSpPr>
        <p:spPr>
          <a:xfrm>
            <a:off x="10122408" y="4206240"/>
            <a:ext cx="502920" cy="502920"/>
          </a:xfrm>
          <a:prstGeom prst="ellipse">
            <a:avLst/>
          </a:prstGeom>
          <a:solidFill>
            <a:srgbClr val="0E5A5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122408" y="427939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049256" y="4800600"/>
            <a:ext cx="6583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</a:t>
            </a:r>
            <a:endParaRPr lang="en-US" sz="730" dirty="0"/>
          </a:p>
        </p:txBody>
      </p:sp>
      <p:sp>
        <p:nvSpPr>
          <p:cNvPr id="32" name="Shape 29"/>
          <p:cNvSpPr/>
          <p:nvPr/>
        </p:nvSpPr>
        <p:spPr>
          <a:xfrm>
            <a:off x="10927080" y="4206240"/>
            <a:ext cx="502920" cy="502920"/>
          </a:xfrm>
          <a:prstGeom prst="ellipse">
            <a:avLst/>
          </a:prstGeom>
          <a:solidFill>
            <a:srgbClr val="0E5A5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927080" y="427939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0853928" y="4800600"/>
            <a:ext cx="6583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Læringslogg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til modeller</a:t>
            </a:r>
            <a:endParaRPr lang="en-US" sz="730" dirty="0"/>
          </a:p>
        </p:txBody>
      </p:sp>
      <p:sp>
        <p:nvSpPr>
          <p:cNvPr id="35" name="Text 32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Kilder/benchmarks: Salesforce field service survey; BCG Field Service AI; McKinsey field service AI. Pilotregnestykke er en antakelse som skal kalibreres lokalt.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PRODUKSJONSSIMULERING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062D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Tallfesting: små prosentløft på designkapasitet blir store tonn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02920" y="9966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OPUS ONE kobler simulering, flaskehalser og arbeidsordre slik at throughput- og recovery-tiltak kan prioriteres etter produksjonseffekt.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105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Publisert ramp-up-retning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Operasjonell stabilitet er forutsetningen for å få recovery og volum opp.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51560" y="3936035"/>
            <a:ext cx="658368" cy="1138885"/>
          </a:xfrm>
          <a:prstGeom prst="rect">
            <a:avLst/>
          </a:prstGeom>
          <a:solidFill>
            <a:srgbClr val="65828A"/>
          </a:solidFill>
          <a:ln w="12700">
            <a:solidFill>
              <a:srgbClr val="6582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1599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53 %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04088" y="51846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2025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op. tid milling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41448" y="3785616"/>
            <a:ext cx="658368" cy="1289304"/>
          </a:xfrm>
          <a:prstGeom prst="rect">
            <a:avLst/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34655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60 %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093976" y="51846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2026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op. tid milling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31336" y="3119476"/>
            <a:ext cx="658368" cy="1955444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27994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91 %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83864" y="51846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2026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throughput/design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" y="5074920"/>
            <a:ext cx="4389120" cy="0"/>
          </a:xfrm>
          <a:prstGeom prst="line">
            <a:avLst/>
          </a:prstGeom>
          <a:noFill/>
          <a:ln w="10160">
            <a:solidFill>
              <a:srgbClr val="9AA3A8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080760" y="1600200"/>
            <a:ext cx="5532120" cy="4160520"/>
          </a:xfrm>
          <a:prstGeom prst="roundRect">
            <a:avLst>
              <a:gd name="adj" fmla="val 2637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810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Sensitivitet ved steady state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148840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Publisert designreferanse: ~35 kt rutil/år, opptil 200 kt granat/år etter ramp-up.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2724912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724912"/>
            <a:ext cx="1051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+2 %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0" y="2724912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2724912"/>
            <a:ext cx="1051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+5 %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442448" y="2724912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88168" y="2724912"/>
            <a:ext cx="1051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+8 %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310128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Ekstra rutil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06640" y="3310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+700 t/år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15400" y="3310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+1 750 t/år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96728" y="3310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+2 800 t/år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39319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Ekstra granat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06640" y="3931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+4 000 t/år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15400" y="3931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+10 000 t/år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96728" y="3931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+16 000 t/år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455371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Ekstra ore feed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06640" y="45537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+30 kt/år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15400" y="45537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+75 kt/år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396728" y="45537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+120 kt/år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55080" y="5193792"/>
            <a:ext cx="4983480" cy="36576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537667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Bruk: simulere flaskehalsendringer, vedlikeholdsstopp, WHIMS/dry-plant-tiltak og recovery-effekt før de går inn i plan.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94360" y="6016752"/>
            <a:ext cx="5303520" cy="292608"/>
          </a:xfrm>
          <a:prstGeom prst="roundRect">
            <a:avLst>
              <a:gd name="adj" fmla="val 62500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016752"/>
            <a:ext cx="5212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 modell — må kalibreres med massebalanse, recovery og salgspris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Kilder: Nordic Mining Q1 2026 Production Update; Engebø opening presentation; Hatch Engebø project page. Beregninger: lineær sensitivitet.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ngebo_assets/crop_pump_left.jpg">    </p:cNvPr>
          <p:cNvPicPr>
            <a:picLocks noChangeAspect="1"/>
          </p:cNvPicPr>
          <p:nvPr/>
        </p:nvPicPr>
        <p:blipFill>
          <a:blip r:embed="rId1"/>
          <a:srcRect l="5000" r="-5000" t="0" b="0"/>
          <a:stretch/>
        </p:blipFill>
        <p:spPr>
          <a:xfrm>
            <a:off x="0" y="0"/>
            <a:ext cx="48920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062D36">
              <a:alpha val="76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57800" y="320040"/>
            <a:ext cx="6446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VEDLIKEHOLD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257800" y="530352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2D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 bedre rutiner til prediktivt vedlikehold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257800" y="112471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Prediktivt vedlikehold krever først struktur: riktig tag, riktig feilårsak, riktig reservedel, riktig inspeksjonsdata og riktig servicehistorikk.</a:t>
            </a:r>
            <a:endParaRPr lang="en-US" sz="1420" dirty="0"/>
          </a:p>
        </p:txBody>
      </p:sp>
      <p:sp>
        <p:nvSpPr>
          <p:cNvPr id="7" name="Shape 4"/>
          <p:cNvSpPr/>
          <p:nvPr/>
        </p:nvSpPr>
        <p:spPr>
          <a:xfrm>
            <a:off x="5486400" y="2075688"/>
            <a:ext cx="0" cy="438912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330952" y="1783080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30952" y="181965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42432" y="16916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Stabilisere rutinene</a:t>
            </a:r>
            <a:endParaRPr lang="en-US" sz="1420" dirty="0"/>
          </a:p>
        </p:txBody>
      </p:sp>
      <p:sp>
        <p:nvSpPr>
          <p:cNvPr id="11" name="Text 8"/>
          <p:cNvSpPr/>
          <p:nvPr/>
        </p:nvSpPr>
        <p:spPr>
          <a:xfrm>
            <a:off x="5742432" y="198424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PM-plan, inspeksjonsrunder, cause codes, standard job plans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86400" y="2926080"/>
            <a:ext cx="0" cy="438912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330952" y="2633472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30952" y="267004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42432" y="25420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Datakvalitet i arbeid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5742432" y="283464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orders berikes automatisk med tag, alarmtrend, dokumentasjon og deler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5486400" y="3776472"/>
            <a:ext cx="0" cy="438912"/>
          </a:xfrm>
          <a:prstGeom prst="line">
            <a:avLst/>
          </a:prstGeom>
          <a:noFill/>
          <a:ln w="1270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330952" y="3483864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30952" y="352044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42432" y="339242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Tilstandsbasert drift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5742432" y="368503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Vibrasjon, temperatur, prosessavvik og historikk kobles til assets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5330952" y="4334256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30952" y="43708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742432" y="424281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Prediktivt + serviceoptimalisering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742432" y="453542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Risiko, anbefalt tiltak, deler og leverandørstøtte foreslås før stopp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5257800" y="5257800"/>
            <a:ext cx="6355080" cy="749808"/>
          </a:xfrm>
          <a:prstGeom prst="roundRect">
            <a:avLst>
              <a:gd name="adj" fmla="val 14634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68112" y="5431536"/>
            <a:ext cx="5925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 for prediktivt vedlikehold: 30–50 % mindre maskinnedetid  •  18–31 % lavere vedlikeholdskost  •  20–40 % lengre levetid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502920" y="5577840"/>
            <a:ext cx="3886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 rutine til modell: agenten skal ikke erstatte fagfolk — den skal sikre at fagfolk får hele konteksten før jobben starter.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Kilder: McKinsey predictive maintenance; IBM predictive maintenance; McKinsey Rewiring maintenance with gen AI.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KOSTNADSLOGIKK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062D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Lavere servicekostnader: mer planlagt arbeid, færre akutte leverandørbesøk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02920" y="99669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Servicekostnadene faller når teamet vet hva som feiler, hvilke deler som trengs og hvilken dokumentasjon som gjelder — før leverandøren bestilles.</a:t>
            </a:r>
            <a:endParaRPr lang="en-US" sz="1400" dirty="0"/>
          </a:p>
        </p:txBody>
      </p:sp>
      <p:pic>
        <p:nvPicPr>
          <p:cNvPr id="5" name="Image 0" descr="/mnt/data/engebo_assets/crop_pumpdiag.jpg">    </p:cNvPr>
          <p:cNvPicPr>
            <a:picLocks noChangeAspect="1"/>
          </p:cNvPicPr>
          <p:nvPr/>
        </p:nvPicPr>
        <p:blipFill>
          <a:blip r:embed="rId1"/>
          <a:srcRect l="5000" r="-5000" t="0" b="0"/>
          <a:stretch/>
        </p:blipFill>
        <p:spPr>
          <a:xfrm>
            <a:off x="594360" y="1572768"/>
            <a:ext cx="42062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572768"/>
            <a:ext cx="4206240" cy="3840480"/>
          </a:xfrm>
          <a:prstGeom prst="rect">
            <a:avLst/>
          </a:prstGeom>
          <a:solidFill>
            <a:srgbClr val="062D36">
              <a:alpha val="82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Agent-assistert service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873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feilhistorikk  2) reservedel  3) manual  4) remote assist  5) standard rapport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5257800" y="1682496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57800" y="169164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6642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Færre hasteoppdrag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87568" y="1920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bedre triage + prioritering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5257800" y="2368296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237744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23500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Høyere first-time-fix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687568" y="2606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riktig del og prosedyre før jobb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257800" y="3054096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57800" y="306324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30358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Mindre overtid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687568" y="3291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automatisk plan og bedre kapasitet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5257800" y="3739896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374904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87568" y="37216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Raskere læring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687568" y="3977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service-rapport blir structured data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891540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89720" y="19476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Målbilde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mnd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189720" y="24414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10–20 %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9189720" y="3081528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lavere ekstern servicekost / akuttinnkjøp for pilot-assets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5257800" y="4846320"/>
            <a:ext cx="61081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Hvordan realisere: start med topp 20 kritiske assets og standardiser service-workflowen før predictive modellering skaleres.</a:t>
            </a:r>
            <a:endParaRPr lang="en-US" sz="1440" dirty="0"/>
          </a:p>
        </p:txBody>
      </p:sp>
      <p:sp>
        <p:nvSpPr>
          <p:cNvPr id="30" name="Text 27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Kilder/benchmarks: BCG Field Service AI; McKinsey field service AI; IBM/McKinsey predictive maintenance. Lokalt mål skal valideres mot faktiske servicekostnader.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2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ngebo_assets/crop_control_right.jpg">    </p:cNvPr>
          <p:cNvPicPr>
            <a:picLocks noChangeAspect="1"/>
          </p:cNvPicPr>
          <p:nvPr/>
        </p:nvPicPr>
        <p:blipFill>
          <a:blip r:embed="rId1"/>
          <a:srcRect l="12000" r="-12000" t="0" b="0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062D36">
              <a:alpha val="80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5661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STEG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5669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Simulering i workflowen: test tiltak før de påvirker plant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594360" y="116128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twin / prosessmodell blir mest verdifull når den er koblet til beslutninger, arbeidsordre og operasjonell godkjenning.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627632" y="2331720"/>
            <a:ext cx="1161288" cy="0"/>
          </a:xfrm>
          <a:prstGeom prst="line">
            <a:avLst/>
          </a:prstGeom>
          <a:noFill/>
          <a:ln w="1524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639312" y="2331720"/>
            <a:ext cx="1161288" cy="0"/>
          </a:xfrm>
          <a:prstGeom prst="line">
            <a:avLst/>
          </a:prstGeom>
          <a:noFill/>
          <a:ln w="1524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440680" y="2651760"/>
            <a:ext cx="0" cy="1115568"/>
          </a:xfrm>
          <a:prstGeom prst="line">
            <a:avLst/>
          </a:prstGeom>
          <a:noFill/>
          <a:ln w="1524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800600" y="4133088"/>
            <a:ext cx="-1124712" cy="0"/>
          </a:xfrm>
          <a:prstGeom prst="line">
            <a:avLst/>
          </a:prstGeom>
          <a:noFill/>
          <a:ln w="1524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88920" y="4133088"/>
            <a:ext cx="-1124712" cy="0"/>
          </a:xfrm>
          <a:prstGeom prst="line">
            <a:avLst/>
          </a:prstGeom>
          <a:noFill/>
          <a:ln w="1524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078992" y="3767328"/>
            <a:ext cx="0" cy="-1115568"/>
          </a:xfrm>
          <a:prstGeom prst="line">
            <a:avLst/>
          </a:prstGeom>
          <a:noFill/>
          <a:ln w="15240">
            <a:solidFill>
              <a:srgbClr val="D9C7A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04672" y="1993392"/>
            <a:ext cx="1325880" cy="685800"/>
          </a:xfrm>
          <a:prstGeom prst="roundRect">
            <a:avLst>
              <a:gd name="adj" fmla="val 20000"/>
            </a:avLst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33856" y="2066544"/>
            <a:ext cx="896112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Sanntidsdata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2816352" y="1993392"/>
            <a:ext cx="1325880" cy="685800"/>
          </a:xfrm>
          <a:prstGeom prst="roundRect">
            <a:avLst>
              <a:gd name="adj" fmla="val 20000"/>
            </a:avLst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89504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145536" y="2066544"/>
            <a:ext cx="896112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Flaskehals / avvik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828032" y="1993392"/>
            <a:ext cx="1325880" cy="685800"/>
          </a:xfrm>
          <a:prstGeom prst="roundRect">
            <a:avLst>
              <a:gd name="adj" fmla="val 20000"/>
            </a:avLst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01184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57216" y="2066544"/>
            <a:ext cx="896112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Simuler scenario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4828032" y="3794760"/>
            <a:ext cx="1325880" cy="685800"/>
          </a:xfrm>
          <a:prstGeom prst="roundRect">
            <a:avLst>
              <a:gd name="adj" fmla="val 20000"/>
            </a:avLst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01184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57216" y="3867912"/>
            <a:ext cx="896112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Anbefal tiltak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2816352" y="3794760"/>
            <a:ext cx="1325880" cy="685800"/>
          </a:xfrm>
          <a:prstGeom prst="roundRect">
            <a:avLst>
              <a:gd name="adj" fmla="val 20000"/>
            </a:avLst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89504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145536" y="3867912"/>
            <a:ext cx="896112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804672" y="3794760"/>
            <a:ext cx="1325880" cy="685800"/>
          </a:xfrm>
          <a:prstGeom prst="roundRect">
            <a:avLst>
              <a:gd name="adj" fmla="val 20000"/>
            </a:avLst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7824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33856" y="3867912"/>
            <a:ext cx="896112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Utfør + lær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731520" y="5230368"/>
            <a:ext cx="5440680" cy="621792"/>
          </a:xfrm>
          <a:prstGeom prst="roundRect">
            <a:avLst>
              <a:gd name="adj" fmla="val 14706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32688" y="5394960"/>
            <a:ext cx="50292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Benchmark: ABB/Boliden digital twin + APC viste 1–3 % throughput-løft i grinding-simulering; BHP beskriver digital twin som testmiljø for scenarier før real-world endringer.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Kilder: ABB/Boliden case study at Aitik; BHP digital twin and AI in mining; McKinsey agentic AI.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GJENNOMFØRING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2D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Roadmap: 90 dager til pilot, 12 måneder til skalerbar OPUS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966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Ikke et stort IT-program først. Start med data- og workflow-ryggmargen, to agenter og tre målbare KPI-er.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1005840" y="2304288"/>
            <a:ext cx="10149840" cy="0"/>
          </a:xfrm>
          <a:prstGeom prst="line">
            <a:avLst/>
          </a:prstGeom>
          <a:noFill/>
          <a:ln w="17780">
            <a:solidFill>
              <a:srgbClr val="D9C7A7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53312" y="2157984"/>
            <a:ext cx="292608" cy="292608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2157984"/>
            <a:ext cx="292608" cy="292608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79008" y="2157984"/>
            <a:ext cx="292608" cy="292608"/>
          </a:xfrm>
          <a:prstGeom prst="ellipse">
            <a:avLst/>
          </a:prstGeom>
          <a:solidFill>
            <a:srgbClr val="0E5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91856" y="2157984"/>
            <a:ext cx="292608" cy="292608"/>
          </a:xfrm>
          <a:prstGeom prst="ellipse">
            <a:avLst/>
          </a:prstGeom>
          <a:solidFill>
            <a:srgbClr val="0E5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04704" y="2157984"/>
            <a:ext cx="292608" cy="292608"/>
          </a:xfrm>
          <a:prstGeom prst="ellipse">
            <a:avLst/>
          </a:prstGeom>
          <a:solidFill>
            <a:srgbClr val="0E5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72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0–6 uker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1480" y="2688336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852928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datakart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57784" y="3346704"/>
            <a:ext cx="15819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Tag/asset-hierarki, systemlandskap, prosess- og vedlikeholdsflyt, KPI-baseline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679192" y="1572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6–12 uker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679192" y="2688336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003C43"/>
          </a:solidFill>
          <a:ln w="12700">
            <a:solidFill>
              <a:srgbClr val="003C4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852928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OPUS ONE spine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25496" y="3346704"/>
            <a:ext cx="15819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Datakontrakter, semantic model, kildekoblinger, governance og agent-sandbox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946904" y="1572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3–6 mnd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946904" y="2688336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2852928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pilotagenter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93208" y="3346704"/>
            <a:ext cx="15819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Skiftbrief-agent + vedlikeholds-work-pack-agent på kritiske assets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214616" y="1572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6–12 mnd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214616" y="2688336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003C43"/>
          </a:solidFill>
          <a:ln w="12700">
            <a:solidFill>
              <a:srgbClr val="003C4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2852928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Prediktiv grunnmur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60920" y="3346704"/>
            <a:ext cx="15819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Tilstandssignaler, failure modes, service learning loop og simulering i plan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482328" y="1572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mnd+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482328" y="2688336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92056" y="2852928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Skalering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628632" y="3346704"/>
            <a:ext cx="15819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Flere workflow-agenter, rollestyring, målstyrt autonomi med human-in-the-loop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49808" y="5285232"/>
            <a:ext cx="10698480" cy="530352"/>
          </a:xfrm>
          <a:prstGeom prst="roundRect">
            <a:avLst>
              <a:gd name="adj" fmla="val 17241"/>
            </a:avLst>
          </a:prstGeom>
          <a:solidFill>
            <a:srgbClr val="F6F3EC"/>
          </a:solidFill>
          <a:ln w="12700">
            <a:solidFill>
              <a:srgbClr val="F6F3E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4406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Styringsprinsipp: hver fase må levere en operasjonell KPI-forbedring, ikke bare en teknisk milepæl.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Leveranseforslag basert på OPUS ONE målbilde og anerkjente agentic AI implementeringsprinsipper.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PILOTVALG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2D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Pilotkandidater: hvor OPUS ONE kan gi rask effekt ved Engebø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966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Velg to piloter som treffer både produksjon, vedlikehold og menneskelig tid. Start på kritiske assets og prosessområder, ikke hele fabrikken.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627632"/>
            <a:ext cx="248716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38144" y="160020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27632"/>
            <a:ext cx="45902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Hva agenten gjør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0" y="1600200"/>
            <a:ext cx="3337560" cy="384048"/>
          </a:xfrm>
          <a:prstGeom prst="roundRect">
            <a:avLst>
              <a:gd name="adj" fmla="val 28571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0496" y="1627632"/>
            <a:ext cx="308152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KPI-effekt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103120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8144" y="2103120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103120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67128"/>
            <a:ext cx="2505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Skiftbrief-agent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566160" y="2167128"/>
            <a:ext cx="459028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Samler siste alarmer, stopp, prøver, arbeidsordre og åpne aksjoner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540496" y="2167128"/>
            <a:ext cx="30815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3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Handover-tid, feil fokus, gjentatte avvik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66928" y="2743200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38144" y="2743200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743200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807208"/>
            <a:ext cx="2505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Vedlikeholds-work-pack-agent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3566160" y="2807208"/>
            <a:ext cx="459028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Arbeidsordre + manual + tegning + deler + risikovurdering i én pakke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540496" y="2807208"/>
            <a:ext cx="30815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3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Wrench time, first-time-fix, akuttstopp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66928" y="3383280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38144" y="3383280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3383280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47288"/>
            <a:ext cx="2505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Slurry/pumpe reliability-agent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3566160" y="3447288"/>
            <a:ext cx="459028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+ feilmodus + servicehistorikk for pumper og rørsystem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540496" y="3447288"/>
            <a:ext cx="30815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3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Planlagte stopp, mindre skade, færre callouts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66928" y="4023360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38144" y="4023360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023360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087368"/>
            <a:ext cx="2505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 plant / WHIMS tuning-agent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3566160" y="4087368"/>
            <a:ext cx="459028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Kobler prosessdata, lab/recovery og justeringslogg til scenarioforslag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8540496" y="4087368"/>
            <a:ext cx="30815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3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Throughput, recovery, stabil kvalitet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66928" y="4663440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38144" y="4663440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4663440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727448"/>
            <a:ext cx="2505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Reservedelsagent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3566160" y="4727448"/>
            <a:ext cx="459028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Min/max, kritikalitet, ledetid og forbruk knyttes til assets og backlog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8540496" y="4727448"/>
            <a:ext cx="30815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3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Lavere ekspedittkjøp og mindre ventetid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66928" y="5303520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38144" y="5303520"/>
            <a:ext cx="4846320" cy="512064"/>
          </a:xfrm>
          <a:prstGeom prst="roundRect">
            <a:avLst>
              <a:gd name="adj" fmla="val 10714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0" y="5303520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E8E1D3"/>
          </a:solidFill>
          <a:ln w="12700">
            <a:solidFill>
              <a:srgbClr val="E8E1D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5367528"/>
            <a:ext cx="2505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Ledelses-KPI-agent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3566160" y="5367528"/>
            <a:ext cx="459028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Daglig produksjons-, vedlikeholds- og risiko-narrativ med datakilde-sporbarhet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8540496" y="5367528"/>
            <a:ext cx="30815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3C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Raskere beslutninger og bedre prioritering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85800" y="6053328"/>
            <a:ext cx="5669280" cy="292608"/>
          </a:xfrm>
          <a:prstGeom prst="roundRect">
            <a:avLst>
              <a:gd name="adj" fmla="val 62500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6053328"/>
            <a:ext cx="5577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Anbefaling: start med skiftbrief + vedlikeholds-work-pack i samme assetområde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Pilotlisten er avledet fra publiserte ramp-up fokusområder: oppetid/stabilitet, dry plant, WHIMS, equipment reliability og recovery.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ngebo_assets/crop_aerial_full.jpg">    </p:cNvPr>
          <p:cNvPicPr>
            <a:picLocks noChangeAspect="1"/>
          </p:cNvPicPr>
          <p:nvPr/>
        </p:nvPicPr>
        <p:blipFill>
          <a:blip r:embed="rId1"/>
          <a:srcRect l="0" r="5002" t="0" b="50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D36">
              <a:alpha val="84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566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STEG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5669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Beslutningen nå: etabler OPUS ONE som 90-dagers pilot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116128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smalt nok til å levere rask effekt — men bygg riktig ryggmarg slik at agenter, simulering og prediktivt vedlikehold kan skaleres.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49808" y="2523744"/>
            <a:ext cx="384048" cy="384048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578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Velg 2 pilot-workflows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1298448" y="27797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Skiftbrief + vedlikeholds-work-pack på kritisk assetområde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" y="3374136"/>
            <a:ext cx="384048" cy="384048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34290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98448" y="3319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 3 KPI-baselines</a:t>
            </a:r>
            <a:endParaRPr lang="en-US" sz="1520" dirty="0"/>
          </a:p>
        </p:txBody>
      </p:sp>
      <p:sp>
        <p:nvSpPr>
          <p:cNvPr id="14" name="Text 11"/>
          <p:cNvSpPr/>
          <p:nvPr/>
        </p:nvSpPr>
        <p:spPr>
          <a:xfrm>
            <a:off x="1298448" y="36301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timer spart, operasjonstid/throughput, service-/akuttkost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9808" y="4224528"/>
            <a:ext cx="384048" cy="384048"/>
          </a:xfrm>
          <a:prstGeom prst="ellipse">
            <a:avLst/>
          </a:prstGeom>
          <a:solidFill>
            <a:srgbClr val="D94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42793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98448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Utpek eiere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1298448" y="44805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drift, vedlikehold, IT/data, prosess/metallurgi og finans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18120" y="4160520"/>
            <a:ext cx="3566160" cy="1170432"/>
          </a:xfrm>
          <a:prstGeom prst="roundRect">
            <a:avLst>
              <a:gd name="adj" fmla="val 10156"/>
            </a:avLst>
          </a:prstGeom>
          <a:solidFill>
            <a:srgbClr val="062D36">
              <a:alpha val="96000"/>
            </a:srgbClr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92440" y="4370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OPUS ONE-prinsippet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92440" y="4690872"/>
            <a:ext cx="2971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 ny silo. Ett operasjonelt lag som gjør eksisterende systemer agent-klare.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E8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Forslag til beslutningsslide for pitch. Regulatoriske/kommersielle forutsetninger håndteres som separat risikospor.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4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62D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Kilder og forutsetninger bak tallfestingen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99669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Tallene i pitch-oppsettet er benchmarks og sensitivitetssimuleringer. De skal kalibreres mot faktisk massebalanse, recovery, kostnadsbase, systemlandskap og vedlikeholdsdata.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Engebø-spesifikke kilder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572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 / publikasjoner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" y="2020824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02996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60704" y="1993392"/>
            <a:ext cx="4800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Nordic Mining: Engebø Rutile and Garnet — prosjektstatus, ressurs, produkter, offtakes.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67512" y="2523744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532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0704" y="2496312"/>
            <a:ext cx="4800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Rutile and Garnet Annual Report 2025 — ramp-up, produksjon 2025, flaskehalser, reliability.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67512" y="3026664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03580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60704" y="2999232"/>
            <a:ext cx="4800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Nordic Mining Q1 2026 Production Update — 13 % oppetidsøkning, 91 % design throughput i mars, Q1-volumer.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67512" y="3529584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53872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60704" y="3502152"/>
            <a:ext cx="4800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Nordic Mining Q1 2026 operational update — fokus skifter til mineral recovery, plant stability og cost control.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67512" y="4032504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04164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60704" y="4005072"/>
            <a:ext cx="4800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of Engebø Rutile and Garnet mine — ~35 kt rutil/år og opptil 200 kt granat/år etter ramp-up.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67512" y="4535424"/>
            <a:ext cx="310896" cy="310896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4456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60704" y="4507992"/>
            <a:ext cx="4800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Hatch Engebø project page — 1,5 Mt ore/år, 40-års mine life og prosjekthøydepunkter.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419088" y="2020824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202996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12280" y="1993392"/>
            <a:ext cx="4754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McKinsey predictive maintenance — 30–50 % mindre maskinnedetid, 20–40 % lengre levetid.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419088" y="2523744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2532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12280" y="2496312"/>
            <a:ext cx="4754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predictive maintenance — 18–31 % lavere vedlikeholdskost som benchmark.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419088" y="3026664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303580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12280" y="2999232"/>
            <a:ext cx="4754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BCG Field Service AI — 10–15 % produktivitet og 10 % effectiveness i feltservice.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419088" y="3529584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53872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12280" y="3502152"/>
            <a:ext cx="4754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Salesforce field service survey — teknikere oppgir 7+ timer/uke i lavverdi/admin som referansepunkt.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6419088" y="4032504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404164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12280" y="4005072"/>
            <a:ext cx="4754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ABB/Boliden digital twin + APC at Aitik — 1–3 % throughput-forbedring i grinding case.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419088" y="4535424"/>
            <a:ext cx="310896" cy="310896"/>
          </a:xfrm>
          <a:prstGeom prst="ellipse">
            <a:avLst/>
          </a:prstGeom>
          <a:solidFill>
            <a:srgbClr val="0E5A5F"/>
          </a:solidFill>
          <a:ln w="12700">
            <a:solidFill>
              <a:srgbClr val="0E5A5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454456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12280" y="4507992"/>
            <a:ext cx="4754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D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McKinsey/Gartner agentic AI — agenter må integreres i arbeidsprosesser og systemarkitektur; 40 % av enterprise apper med task-agents innen 2026 som markedssignal.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640080" y="544068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062D36"/>
          </a:solidFill>
          <a:ln w="12700">
            <a:solidFill>
              <a:srgbClr val="062D3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5623560"/>
            <a:ext cx="10424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D9C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Viktig forutsetning: juni 2026-regulatoriske avklaringer og midlertidig utslippstillatelse er ikke modellert i gevinstcaset. OPUS ONE adresserer operasjonell flyt, sporbarhet og beslutningskvalitet — ikke selve regulatoriske risikosporet.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Engebø Horizon  |  OPUS ONE OPERATION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074920" y="6483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58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 økonomiske tall er foreløpige og bør valideres med Engebø interne data før business case låses.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Engebø Horizon OPUS ONE OPERATION</dc:title>
  <dc:subject>Engebø Horizon OPUS ONE OPERATION pitch</dc:subject>
  <dc:creator>OpenAI</dc:creator>
  <cp:lastModifiedBy>OpenAI</cp:lastModifiedBy>
  <cp:revision>1</cp:revision>
  <dcterms:created xsi:type="dcterms:W3CDTF">2026-06-25T07:44:39Z</dcterms:created>
  <dcterms:modified xsi:type="dcterms:W3CDTF">2026-06-25T07:44:39Z</dcterms:modified>
</cp:coreProperties>
</file>